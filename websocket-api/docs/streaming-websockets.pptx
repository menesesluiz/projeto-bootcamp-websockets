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1737360"/>
            <a:ext cx="3566160" cy="18288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21040" y="1719072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33D6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2514600"/>
            <a:ext cx="3566160" cy="18288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0" y="2496312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55279" y="3291840"/>
            <a:ext cx="3566160" cy="18288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0" y="3273552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33D6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4069080"/>
            <a:ext cx="3566160" cy="18288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0" y="4050792"/>
            <a:ext cx="1005840" cy="54864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008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 spc="140">
                <a:solidFill>
                  <a:srgbClr val="5C6A86"/>
                </a:solidFill>
                <a:latin typeface="IBM Plex Mono"/>
              </a:rPr>
              <a:t>WORKSHOP 04 · BOOTCAMP AWS AI FDE — AGENTIC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8686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E9EDF6"/>
                </a:solidFill>
                <a:latin typeface="IBM Plex Sans Condensed"/>
              </a:rPr>
              <a:t>Streaming &amp;</a:t>
            </a:r>
          </a:p>
          <a:p>
            <a:r>
              <a:rPr sz="5800" b="1">
                <a:solidFill>
                  <a:srgbClr val="33D6B5"/>
                </a:solidFill>
                <a:latin typeface="IBM Plex Sans Condensed"/>
              </a:rPr>
              <a:t>WebSockets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93A1BA"/>
                </a:solidFill>
                <a:latin typeface="IBM Plex Sans"/>
              </a:rPr>
              <a:t>Como fazer o servidor falar primeiro.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015974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COMO VAI FUNCIONAR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 i="0">
                <a:solidFill>
                  <a:srgbClr val="E9EDF6"/>
                </a:solidFill>
                <a:latin typeface="IBM Plex Sans Condensed"/>
              </a:rPr>
              <a:t>60 minutos, 3 blocos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1661160" cy="502920"/>
          </a:xfrm>
          <a:prstGeom prst="rect">
            <a:avLst/>
          </a:prstGeom>
          <a:solidFill>
            <a:srgbClr val="33D6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220"/>
                </a:solidFill>
                <a:latin typeface="IBM Plex Mono"/>
              </a:rPr>
              <a:t>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438400" y="2331720"/>
            <a:ext cx="3322320" cy="502920"/>
          </a:xfrm>
          <a:prstGeom prst="rect">
            <a:avLst/>
          </a:prstGeom>
          <a:solidFill>
            <a:srgbClr val="93A1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220"/>
                </a:solidFill>
                <a:latin typeface="IBM Plex Mono"/>
              </a:rPr>
              <a:t>20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2331720"/>
            <a:ext cx="4983480" cy="50292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220"/>
                </a:solidFill>
                <a:latin typeface="IBM Plex Mono"/>
              </a:rPr>
              <a:t>30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33D6B5"/>
                </a:solidFill>
                <a:latin typeface="IBM Plex Mono"/>
              </a:rPr>
              <a:t>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9EDF6"/>
                </a:solidFill>
                <a:latin typeface="IBM Plex Sans"/>
              </a:rPr>
              <a:t>Teoria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A86"/>
                </a:solidFill>
                <a:latin typeface="IBM Plex Sans"/>
              </a:rPr>
              <a:t>stream, SSE,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24612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93A1BA"/>
                </a:solidFill>
                <a:latin typeface="IBM Plex Mono"/>
              </a:rPr>
              <a:t>20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79476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9EDF6"/>
                </a:solidFill>
                <a:latin typeface="IBM Plex Sans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2062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A86"/>
                </a:solidFill>
                <a:latin typeface="IBM Plex Sans"/>
              </a:rPr>
              <a:t>live coding guiado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24612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B454"/>
                </a:solidFill>
                <a:latin typeface="IBM Plex Mono"/>
              </a:rPr>
              <a:t>30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794760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9EDF6"/>
                </a:solidFill>
                <a:latin typeface="IBM Plex Sans"/>
              </a:rPr>
              <a:t>Dúvidas + atividade opcional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420624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C6A86"/>
                </a:solidFill>
                <a:latin typeface="IBM Plex Sans"/>
              </a:rPr>
              <a:t>pra quem quiser ir além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PONTO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E9EDF6"/>
                </a:solidFill>
                <a:latin typeface="IBM Plex Sans Condensed"/>
              </a:rPr>
              <a:t>No REST, o servidor só fala quando é perguntado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71800"/>
            <a:ext cx="1" cy="0"/>
          </a:xfrm>
          <a:prstGeom prst="roundRect">
            <a:avLst>
              <a:gd name="adj" fmla="val 28000"/>
            </a:avLst>
          </a:prstGeom>
          <a:solidFill>
            <a:srgbClr val="111B2E"/>
          </a:solidFill>
          <a:ln w="15875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E9EDF6"/>
                </a:solidFill>
                <a:latin typeface="IBM Plex Mono"/>
              </a:rPr>
              <a:t>Cliente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2971800"/>
            <a:ext cx="1" cy="0"/>
          </a:xfrm>
          <a:prstGeom prst="roundRect">
            <a:avLst>
              <a:gd name="adj" fmla="val 28000"/>
            </a:avLst>
          </a:prstGeom>
          <a:solidFill>
            <a:srgbClr val="111B2E"/>
          </a:solidFill>
          <a:ln w="15875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E9EDF6"/>
                </a:solidFill>
                <a:latin typeface="IBM Plex Mono"/>
              </a:rPr>
              <a:t>Servidor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3108960"/>
            <a:ext cx="5760720" cy="0"/>
          </a:xfrm>
          <a:prstGeom prst="line">
            <a:avLst/>
          </a:prstGeom>
          <a:ln w="22225">
            <a:solidFill>
              <a:srgbClr val="33D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03320" y="27432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3D6B5"/>
                </a:solidFill>
                <a:latin typeface="IBM Plex Mono"/>
              </a:rPr>
              <a:t>pergunta (GET)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743200" y="3474720"/>
            <a:ext cx="5760720" cy="0"/>
          </a:xfrm>
          <a:prstGeom prst="line">
            <a:avLst/>
          </a:prstGeom>
          <a:ln w="22225">
            <a:solidFill>
              <a:srgbClr val="FFB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03320" y="3566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B454"/>
                </a:solidFill>
                <a:latin typeface="IBM Plex Mono"/>
              </a:rPr>
              <a:t>responde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C6A86"/>
                </a:solidFill>
                <a:latin typeface="IBM Plex Mono"/>
              </a:rPr>
              <a:t>mudou de novo? → cliente precisa perguntar de novo.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3047923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E9EDF6"/>
                </a:solidFill>
                <a:latin typeface="IBM Plex Sans Condensed"/>
              </a:rPr>
              <a:t>Como o cliente sabe que algo mudou — sem ficar perguntando toda hora?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4297680"/>
            <a:ext cx="923544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/>
          <a:lstStyle/>
          <a:p>
            <a:pPr algn="ctr"/>
            <a:r>
              <a:rPr sz="1200">
                <a:solidFill>
                  <a:srgbClr val="E9EDF6"/>
                </a:solidFill>
                <a:latin typeface="IBM Plex Mono"/>
              </a:rPr>
              <a:t>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088" y="4297680"/>
            <a:ext cx="1659636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/>
          <a:lstStyle/>
          <a:p>
            <a:pPr algn="ctr"/>
            <a:r>
              <a:rPr sz="1200">
                <a:solidFill>
                  <a:srgbClr val="E9EDF6"/>
                </a:solidFill>
                <a:latin typeface="IBM Plex Mono"/>
              </a:rPr>
              <a:t>notificação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3028" y="4297680"/>
            <a:ext cx="2500884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/>
          <a:lstStyle/>
          <a:p>
            <a:pPr algn="ctr"/>
            <a:r>
              <a:rPr sz="1200">
                <a:solidFill>
                  <a:srgbClr val="E9EDF6"/>
                </a:solidFill>
                <a:latin typeface="IBM Plex Mono"/>
              </a:rPr>
              <a:t>status de pagamento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216" y="4297680"/>
            <a:ext cx="2290572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/>
          <a:lstStyle/>
          <a:p>
            <a:pPr algn="ctr"/>
            <a:r>
              <a:rPr sz="1200">
                <a:solidFill>
                  <a:srgbClr val="E9EDF6"/>
                </a:solidFill>
                <a:latin typeface="IBM Plex Mono"/>
              </a:rPr>
              <a:t>dashboard ao vivo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AS ALTERNATIVAS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 i="0">
                <a:solidFill>
                  <a:srgbClr val="E9EDF6"/>
                </a:solidFill>
                <a:latin typeface="IBM Plex Sans Condensed"/>
              </a:rPr>
              <a:t>Quatro jeitos de resolver isso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31720"/>
            <a:ext cx="2542032" cy="301752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5875">
            <a:solidFill>
              <a:srgbClr val="22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532888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9EDF6"/>
                </a:solidFill>
                <a:latin typeface="IBM Plex Mono"/>
              </a:rPr>
              <a:t>Polling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3017520"/>
            <a:ext cx="213969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3A1BA"/>
                </a:solidFill>
                <a:latin typeface="IBM Plex Sans"/>
              </a:rPr>
              <a:t>Cliente pergunta de novo a cada X segundos, sempre.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2152" y="2331720"/>
            <a:ext cx="2542032" cy="301752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5875">
            <a:solidFill>
              <a:srgbClr val="22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532888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9EDF6"/>
                </a:solidFill>
                <a:latin typeface="IBM Plex Mono"/>
              </a:rPr>
              <a:t>Long polling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017520"/>
            <a:ext cx="213969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3A1BA"/>
                </a:solidFill>
                <a:latin typeface="IBM Plex Sans"/>
              </a:rPr>
              <a:t>Servidor segura a resposta até ter algo novo pra contar.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2331720"/>
            <a:ext cx="2542032" cy="3017520"/>
          </a:xfrm>
          <a:prstGeom prst="roundRect">
            <a:avLst>
              <a:gd name="adj" fmla="val 6000"/>
            </a:avLst>
          </a:prstGeom>
          <a:solidFill>
            <a:srgbClr val="111B2E"/>
          </a:solidFill>
          <a:ln w="15875">
            <a:solidFill>
              <a:srgbClr val="22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2532888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9EDF6"/>
                </a:solidFill>
                <a:latin typeface="IBM Plex Mono"/>
              </a:rPr>
              <a:t>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3017520"/>
            <a:ext cx="213969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3A1BA"/>
                </a:solidFill>
                <a:latin typeface="IBM Plex Sans"/>
              </a:rPr>
              <a:t>Servidor manda quando quiser — só nesse sentido.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1976" y="2331720"/>
            <a:ext cx="2542032" cy="3017520"/>
          </a:xfrm>
          <a:prstGeom prst="roundRect">
            <a:avLst>
              <a:gd name="adj" fmla="val 6000"/>
            </a:avLst>
          </a:prstGeom>
          <a:solidFill>
            <a:srgbClr val="272116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144" y="2532888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9EDF6"/>
                </a:solidFill>
                <a:latin typeface="IBM Plex Mono"/>
              </a:rPr>
              <a:t>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3144" y="3017520"/>
            <a:ext cx="213969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93A1BA"/>
                </a:solidFill>
                <a:latin typeface="IBM Plex Sans"/>
              </a:rPr>
              <a:t>Canal aberto: os dois lados mandam quando quiserem.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144" y="4846320"/>
            <a:ext cx="213969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20">
                <a:solidFill>
                  <a:srgbClr val="FFB454"/>
                </a:solidFill>
                <a:latin typeface="IBM Plex Mono"/>
              </a:rPr>
              <a:t>NOSSO FOCO HOJE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5079872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CONCEITO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E9EDF6"/>
                </a:solidFill>
                <a:latin typeface="IBM Plex Sans Condensed"/>
              </a:rPr>
              <a:t>Stream: dado chegando aos pedaços, não tudo de uma vez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514600"/>
            <a:ext cx="6949440" cy="1645920"/>
          </a:xfrm>
          <a:prstGeom prst="roundRect">
            <a:avLst>
              <a:gd name="adj" fmla="val 8000"/>
            </a:avLst>
          </a:prstGeom>
          <a:solidFill>
            <a:srgbClr val="111B2E"/>
          </a:solidFill>
          <a:ln w="15875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>
              <a:lnSpc>
                <a:spcPct val="150000"/>
              </a:lnSpc>
            </a:pPr>
            <a:r>
              <a:rPr sz="1600">
                <a:solidFill>
                  <a:srgbClr val="33D6B5"/>
                </a:solidFill>
                <a:latin typeface="IBM Plex Mono"/>
              </a:rPr>
              <a:t>O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33D6B5"/>
                </a:solidFill>
                <a:latin typeface="IBM Plex Mono"/>
              </a:rPr>
              <a:t>O pagamento fo</a:t>
            </a:r>
          </a:p>
          <a:p>
            <a:pPr>
              <a:lnSpc>
                <a:spcPct val="150000"/>
              </a:lnSpc>
            </a:pPr>
            <a:r>
              <a:rPr sz="1600">
                <a:solidFill>
                  <a:srgbClr val="33D6B5"/>
                </a:solidFill>
                <a:latin typeface="IBM Plex Mono"/>
              </a:rPr>
              <a:t>O pagamento foi aprovado.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A86"/>
                </a:solidFill>
                <a:latin typeface="IBM Plex Sans"/>
              </a:rPr>
              <a:t>É assim que respostas de LLM chegam — token a token, não a frase inteira de uma vez.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O PROTOCOLO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E9EDF6"/>
                </a:solidFill>
                <a:latin typeface="IBM Plex Sans Condensed"/>
              </a:rPr>
              <a:t>Um aperto de mão, depois o canal fica aberto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" cy="0"/>
          </a:xfrm>
          <a:prstGeom prst="roundRect">
            <a:avLst>
              <a:gd name="adj" fmla="val 28000"/>
            </a:avLst>
          </a:prstGeom>
          <a:solidFill>
            <a:srgbClr val="111B2E"/>
          </a:solidFill>
          <a:ln w="15875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E9EDF6"/>
                </a:solidFill>
                <a:latin typeface="IBM Plex Mono"/>
              </a:rPr>
              <a:t>Cliente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2331720"/>
            <a:ext cx="1" cy="0"/>
          </a:xfrm>
          <a:prstGeom prst="roundRect">
            <a:avLst>
              <a:gd name="adj" fmla="val 28000"/>
            </a:avLst>
          </a:prstGeom>
          <a:solidFill>
            <a:srgbClr val="111B2E"/>
          </a:solidFill>
          <a:ln w="15875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E9EDF6"/>
                </a:solidFill>
                <a:latin typeface="IBM Plex Mono"/>
              </a:rPr>
              <a:t>Servidor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468880"/>
            <a:ext cx="5760720" cy="0"/>
          </a:xfrm>
          <a:prstGeom prst="line">
            <a:avLst/>
          </a:prstGeom>
          <a:ln w="22225">
            <a:solidFill>
              <a:srgbClr val="33D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03320" y="21031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33D6B5"/>
                </a:solidFill>
                <a:latin typeface="IBM Plex Mono"/>
              </a:rPr>
              <a:t>GET + Upgrade: websocket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743200" y="2834640"/>
            <a:ext cx="5760720" cy="0"/>
          </a:xfrm>
          <a:prstGeom prst="line">
            <a:avLst/>
          </a:prstGeom>
          <a:ln w="22225">
            <a:solidFill>
              <a:srgbClr val="FFB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703320" y="29260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FFB454"/>
                </a:solidFill>
                <a:latin typeface="IBM Plex Mono"/>
              </a:rPr>
              <a:t>101 Switching Protocols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60520"/>
            <a:ext cx="1" cy="0"/>
          </a:xfrm>
          <a:prstGeom prst="roundRect">
            <a:avLst>
              <a:gd name="adj" fmla="val 28000"/>
            </a:avLst>
          </a:prstGeom>
          <a:solidFill>
            <a:srgbClr val="111B2E"/>
          </a:solidFill>
          <a:ln w="15875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E9EDF6"/>
                </a:solidFill>
                <a:latin typeface="IBM Plex Mono"/>
              </a:rPr>
              <a:t>Cliente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4160520"/>
            <a:ext cx="1" cy="0"/>
          </a:xfrm>
          <a:prstGeom prst="roundRect">
            <a:avLst>
              <a:gd name="adj" fmla="val 28000"/>
            </a:avLst>
          </a:prstGeom>
          <a:solidFill>
            <a:srgbClr val="111B2E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>
                <a:solidFill>
                  <a:srgbClr val="E9EDF6"/>
                </a:solidFill>
                <a:latin typeface="IBM Plex Mono"/>
              </a:rPr>
              <a:t>Servidor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4297679"/>
            <a:ext cx="5760720" cy="0"/>
          </a:xfrm>
          <a:prstGeom prst="line">
            <a:avLst/>
          </a:prstGeom>
          <a:ln w="22225">
            <a:solidFill>
              <a:srgbClr val="33D6B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703320" y="397763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33D6B5"/>
                </a:solidFill>
                <a:latin typeface="IBM Plex Mono"/>
              </a:rPr>
              <a:t>mensagem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743200" y="4663440"/>
            <a:ext cx="5760720" cy="0"/>
          </a:xfrm>
          <a:prstGeom prst="line">
            <a:avLst/>
          </a:prstGeom>
          <a:ln w="22225">
            <a:solidFill>
              <a:srgbClr val="FFB45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03320" y="475487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B454"/>
                </a:solidFill>
                <a:latin typeface="IBM Plex Mono"/>
              </a:rPr>
              <a:t>mensagem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51206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 spc="100">
                <a:solidFill>
                  <a:srgbClr val="5C6A86"/>
                </a:solidFill>
                <a:latin typeface="IBM Plex Mono"/>
              </a:rPr>
              <a:t>CANAL ABERTO · FULL-DUPLEX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7111822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 i="0">
                <a:solidFill>
                  <a:srgbClr val="E9EDF6"/>
                </a:solidFill>
                <a:latin typeface="IBM Plex Sans Condensed"/>
              </a:rPr>
              <a:t>O ciclo de vida de uma conexão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880360"/>
            <a:ext cx="950976" cy="548640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 w="15875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E9EDF6"/>
                </a:solidFill>
                <a:latin typeface="IBM Plex Mono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9573231640" y="295351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C6A86"/>
                </a:solidFill>
                <a:latin typeface="IBM Plex Mono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7636911640" y="2880360"/>
            <a:ext cx="3063240" cy="548640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 w="15875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E9EDF6"/>
                </a:solidFill>
                <a:latin typeface="IBM Plex Mono"/>
              </a:rPr>
              <a:t>message  (N×, os 2 lados)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8663567639" y="295351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5C6A86"/>
                </a:solidFill>
                <a:latin typeface="IBM Plex Mon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6727247640" y="2880360"/>
            <a:ext cx="1856231" cy="548640"/>
          </a:xfrm>
          <a:prstGeom prst="roundRect">
            <a:avLst>
              <a:gd name="adj" fmla="val 50000"/>
            </a:avLst>
          </a:prstGeom>
          <a:solidFill>
            <a:srgbClr val="111B2E"/>
          </a:solidFill>
          <a:ln w="15875">
            <a:solidFill>
              <a:srgbClr val="5C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93A1BA"/>
                </a:solidFill>
                <a:latin typeface="IBM Plex Mono"/>
              </a:rPr>
              <a:t>close /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A86"/>
                </a:solidFill>
                <a:latin typeface="IBM Plex Sans"/>
              </a:rPr>
              <a:t>ping / pong mantêm a conexão viva enquanto ninguém tem nada novo pra dizer.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QUANDO USAR O QUÊ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 i="0">
                <a:solidFill>
                  <a:srgbClr val="E9EDF6"/>
                </a:solidFill>
                <a:latin typeface="IBM Plex Sans Condensed"/>
              </a:rPr>
              <a:t>Guia rápido de decisão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23160"/>
            <a:ext cx="9966960" cy="777240"/>
          </a:xfrm>
          <a:prstGeom prst="roundRect">
            <a:avLst>
              <a:gd name="adj" fmla="val 10000"/>
            </a:avLst>
          </a:prstGeom>
          <a:solidFill>
            <a:srgbClr val="111B2E"/>
          </a:solidFill>
          <a:ln w="12700">
            <a:solidFill>
              <a:srgbClr val="22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42316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>
                <a:solidFill>
                  <a:srgbClr val="E9EDF6"/>
                </a:solidFill>
                <a:latin typeface="IBM Plex Sans"/>
              </a:rPr>
              <a:t>Só atualização servidor → cliente, via HTTP?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42316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 spc="80">
                <a:solidFill>
                  <a:srgbClr val="33D6B5"/>
                </a:solidFill>
                <a:latin typeface="IBM Plex Mono"/>
              </a:rPr>
              <a:t>SSE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383280"/>
            <a:ext cx="9966960" cy="777240"/>
          </a:xfrm>
          <a:prstGeom prst="roundRect">
            <a:avLst>
              <a:gd name="adj" fmla="val 10000"/>
            </a:avLst>
          </a:prstGeom>
          <a:solidFill>
            <a:srgbClr val="111B2E"/>
          </a:solidFill>
          <a:ln w="12700">
            <a:solidFill>
              <a:srgbClr val="22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38328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>
                <a:solidFill>
                  <a:srgbClr val="E9EDF6"/>
                </a:solidFill>
                <a:latin typeface="IBM Plex Sans"/>
              </a:rPr>
              <a:t>Via de mão dupla, baixa latência, muito evento?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38328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 spc="80">
                <a:solidFill>
                  <a:srgbClr val="33D6B5"/>
                </a:solidFill>
                <a:latin typeface="IBM Plex Mono"/>
              </a:rPr>
              <a:t>WEBSOCKET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343400"/>
            <a:ext cx="9966960" cy="777240"/>
          </a:xfrm>
          <a:prstGeom prst="roundRect">
            <a:avLst>
              <a:gd name="adj" fmla="val 10000"/>
            </a:avLst>
          </a:prstGeom>
          <a:solidFill>
            <a:srgbClr val="111B2E"/>
          </a:solidFill>
          <a:ln w="12700">
            <a:solidFill>
              <a:srgbClr val="222D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43400"/>
            <a:ext cx="67665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0" i="0">
                <a:solidFill>
                  <a:srgbClr val="E9EDF6"/>
                </a:solidFill>
                <a:latin typeface="IBM Plex Sans"/>
              </a:rPr>
              <a:t>Atualizar a cada X segundos já resolve?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34340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 spc="80">
                <a:solidFill>
                  <a:srgbClr val="33D6B5"/>
                </a:solidFill>
                <a:latin typeface="IBM Plex Mono"/>
              </a:rPr>
              <a:t>POLLING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3771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NO MUNDO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 i="0">
                <a:solidFill>
                  <a:srgbClr val="E9EDF6"/>
                </a:solidFill>
                <a:latin typeface="IBM Plex Sans Condensed"/>
              </a:rPr>
              <a:t>Você já usa isso todo 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651760"/>
            <a:ext cx="923544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/>
          <a:lstStyle/>
          <a:p>
            <a:pPr algn="ctr"/>
            <a:r>
              <a:rPr sz="1200">
                <a:solidFill>
                  <a:srgbClr val="E9EDF6"/>
                </a:solidFill>
                <a:latin typeface="IBM Plex Mono"/>
              </a:rPr>
              <a:t>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088" y="2651760"/>
            <a:ext cx="1764792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/>
          <a:lstStyle/>
          <a:p>
            <a:pPr algn="ctr"/>
            <a:r>
              <a:rPr sz="1200">
                <a:solidFill>
                  <a:srgbClr val="E9EDF6"/>
                </a:solidFill>
                <a:latin typeface="IBM Plex Mono"/>
              </a:rPr>
              <a:t>notificações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58184" y="2651760"/>
            <a:ext cx="2395728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/>
          <a:lstStyle/>
          <a:p>
            <a:pPr algn="ctr"/>
            <a:r>
              <a:rPr sz="1200">
                <a:solidFill>
                  <a:srgbClr val="E9EDF6"/>
                </a:solidFill>
                <a:latin typeface="IBM Plex Mono"/>
              </a:rPr>
              <a:t>dashboards ao vivo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46120"/>
            <a:ext cx="26060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/>
          <a:lstStyle/>
          <a:p>
            <a:pPr algn="ctr"/>
            <a:r>
              <a:rPr sz="1200">
                <a:solidFill>
                  <a:srgbClr val="E9EDF6"/>
                </a:solidFill>
                <a:latin typeface="IBM Plex Mono"/>
              </a:rPr>
              <a:t>pagamento assíncrono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9584" y="3246120"/>
            <a:ext cx="2816352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/>
          <a:lstStyle/>
          <a:p>
            <a:pPr algn="ctr"/>
            <a:r>
              <a:rPr sz="1200">
                <a:solidFill>
                  <a:srgbClr val="E9EDF6"/>
                </a:solidFill>
                <a:latin typeface="IBM Plex Mono"/>
              </a:rPr>
              <a:t>cursores colaborativos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246120"/>
            <a:ext cx="2185416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7000" rIns="127000"/>
          <a:lstStyle/>
          <a:p>
            <a:pPr algn="ctr"/>
            <a:r>
              <a:rPr sz="1200">
                <a:solidFill>
                  <a:srgbClr val="E9EDF6"/>
                </a:solidFill>
                <a:latin typeface="IBM Plex Mono"/>
              </a:rPr>
              <a:t>streaming de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0159745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MÃO NA MASSA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332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800" b="1" i="0">
                <a:solidFill>
                  <a:srgbClr val="E9EDF6"/>
                </a:solidFill>
                <a:latin typeface="IBM Plex Sans Condensed"/>
              </a:rPr>
              <a:t>Chat em tempo real, com um agente que responde em streaming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697480"/>
            <a:ext cx="41148" cy="1371600"/>
          </a:xfrm>
          <a:prstGeom prst="rect">
            <a:avLst/>
          </a:prstGeom>
          <a:solidFill>
            <a:srgbClr val="33D6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33D6B5"/>
                </a:solidFill>
                <a:latin typeface="IBM Plex Mono"/>
              </a:rPr>
              <a:t>WEBSOCKET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15468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9EDF6"/>
                </a:solidFill>
                <a:latin typeface="IBM Plex Sans"/>
              </a:rPr>
              <a:t>Broadcast entre usuários conectados ao mesmo tempo.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2697480"/>
            <a:ext cx="41148" cy="13716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6974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FFB454"/>
                </a:solidFill>
                <a:latin typeface="IBM Plex Mono"/>
              </a:rPr>
              <a:t>STREAMING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15468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9EDF6"/>
                </a:solidFill>
                <a:latin typeface="IBM Plex Sans"/>
              </a:rPr>
              <a:t>Resposta do agente chega em pedaços, não de uma vez.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63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A86"/>
                </a:solidFill>
                <a:latin typeface="IBM Plex Sans"/>
              </a:rPr>
              <a:t>Tudo rodando em localhost — sem depender de AWS.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1175720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3D6B5"/>
                </a:solidFill>
                <a:latin typeface="IBM Plex Mono"/>
              </a:rPr>
              <a:t>PRA FECHAR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9875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200" b="1" i="0">
                <a:solidFill>
                  <a:srgbClr val="E9EDF6"/>
                </a:solidFill>
                <a:latin typeface="IBM Plex Sans Condensed"/>
              </a:rPr>
              <a:t>Dúvidas + atividade opcional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231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3D6B5"/>
                </a:solidFill>
                <a:latin typeface="IBM Plex Mono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2316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DF6"/>
                </a:solidFill>
                <a:latin typeface="IBM Plex Sans"/>
              </a:rPr>
              <a:t>Lista de usuários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43784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3D6B5"/>
                </a:solidFill>
                <a:latin typeface="IBM Plex Mono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43784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DF6"/>
                </a:solidFill>
                <a:latin typeface="IBM Plex Sans"/>
              </a:rPr>
              <a:t>Indicador "digitando..."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6440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3D6B5"/>
                </a:solidFill>
                <a:latin typeface="IBM Plex Mono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6440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DF6"/>
                </a:solidFill>
                <a:latin typeface="IBM Plex Sans"/>
              </a:rPr>
              <a:t>Salas separadas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85032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3D6B5"/>
                </a:solidFill>
                <a:latin typeface="IBM Plex Mono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85032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DF6"/>
                </a:solidFill>
                <a:latin typeface="IBM Plex Sans"/>
              </a:rPr>
              <a:t>Streaming vs. resposta única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05656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3D6B5"/>
                </a:solidFill>
                <a:latin typeface="IBM Plex Mono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105656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DF6"/>
                </a:solidFill>
                <a:latin typeface="IBM Plex Sans"/>
              </a:rPr>
              <a:t>Reconexão automática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3D6B5"/>
                </a:solidFill>
                <a:latin typeface="IBM Plex Mono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2628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9EDF6"/>
                </a:solidFill>
                <a:latin typeface="IBM Plex Sans"/>
              </a:rPr>
              <a:t>Bônus: status de pagamento simulado, em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75504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5C6A86"/>
                </a:solidFill>
                <a:latin typeface="IBM Plex Sans"/>
              </a:rPr>
              <a:t>De brinde: o mesmo padrão rodando de verdade na AWS — só demo, ninguém precisa de acesso.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6309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93A1BA"/>
                </a:solidFill>
                <a:latin typeface="IBM Plex Sans Condensed"/>
              </a:rPr>
              <a:t>Obrigado!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6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gradFill rotWithShape="1">
            <a:gsLst>
              <a:gs pos="0">
                <a:srgbClr val="33D6B5"/>
              </a:gs>
              <a:gs pos="100000">
                <a:srgbClr val="FFB45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960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5C6A86"/>
                </a:solidFill>
                <a:latin typeface="IBM Plex Mono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